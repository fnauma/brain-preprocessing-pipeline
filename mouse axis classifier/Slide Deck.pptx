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00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AXIS CLASSIFIER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Mouse Brain Axis Classifier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Atlas-pretrained, real-image fine-tuned orientation prediction for mouse brain slices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1280160" cy="0"/>
          </a:xfrm>
          <a:prstGeom prst="line">
            <a:avLst/>
          </a:prstGeom>
          <a:noFill/>
          <a:ln w="19050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two-stage pipeline: pretrain, then fine-tune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human classifier, a mouse atlas alone wasn't enough. Real mouse brain photographs differ from a rendered atlas volume far more than real MRI differs from the human MNI152 template — so stage one only gets the model into the right neighborhood; stage two closes the gap.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3246120" cy="23317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31363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pretraining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593592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ImageNet-pretrained ConvNeXt-Tiny trained on 270 mouse atlas slices (90/axis), x4 rotation-augmented to 1,080 images. No real photos used yet.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87368" y="3342132"/>
            <a:ext cx="23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43400" y="2423160"/>
            <a:ext cx="3246120" cy="23317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31363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Domain-gap problem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593592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Atlas-only model evaluated on 205 real mouse slice photos: contrast, lighting, and texture differ enough from the rendered atlas that accuracy drops sharply.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607808" y="3342132"/>
            <a:ext cx="23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863840" y="2423160"/>
            <a:ext cx="3246120" cy="23317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9244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092440" y="31363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Real-image fine-tuning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92440" y="3593592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fine-tuned on an 80/20 stratified split of the 205 real images, with extra augmentation for the weakest class (coronal).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5029200"/>
            <a:ext cx="10515600" cy="713232"/>
          </a:xfrm>
          <a:prstGeom prst="rect">
            <a:avLst/>
          </a:prstGeom>
          <a:solidFill>
            <a:srgbClr val="1B2630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51560" y="510235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2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pretraining gives the model anatomical structure for free, without any manual labeling; fine-tuning then teaches it the specific visual domain (lighting, framing, tissue texture) it will actually see at inference time.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 extraction and shared contrast normalization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528 × 320 × 456 mouse atlas volume (coronal × axial × sagittal), oriented to RAS. The same percentile-stretch normalization is then applied to every image the model ever sees — atlas slices, fine-tuning photos, and inference photos alike.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3246120" cy="169164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25694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29900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orientation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3355848"/>
            <a:ext cx="2788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average_template_25.nrrd loaded via SimpleITK, reoriented to RAS, axes permuted to (coronal × axial × sagittal).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87368" y="3067812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3400" y="2423160"/>
            <a:ext cx="3246120" cy="169164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5694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29900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Evenly-spaced slicing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355848"/>
            <a:ext cx="2788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slices sampled per axis (270 total), skipping the outer 5% on each side to avoid empty edge slices — same scheme as the human atlas.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07808" y="3067812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63840" y="2423160"/>
            <a:ext cx="3246120" cy="169164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92440" y="25694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092440" y="29900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Per-image contrast stretch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92440" y="3355848"/>
            <a:ext cx="2788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1st–99th percentile clip + rescale to [0,255] on every slice, removing brightness/black-level differences before the model ever sees them.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4389120"/>
            <a:ext cx="10515600" cy="1417320"/>
          </a:xfrm>
          <a:prstGeom prst="rect">
            <a:avLst/>
          </a:prstGeom>
          <a:solidFill>
            <a:srgbClr val="1B2630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7280" y="45537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normalize everywhere, identically?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8920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source folders (e.g. broadtraining/coronal vs. axial (not broad)) carry their own brightness and black-level signatures from how they were captured. Without normalization, the model can key off acquisition style instead of anatomy. The same normalize_contrast() function is called on atlas slices, fine-tuning images, and inference images — so the model is never trained on one visual regime and tested on another.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Four-variant rotation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atlas slice is expanded into 4 fixed rotations (0°/90°/180°/270°).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0712"/>
            <a:ext cx="1783080" cy="178308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11580" y="2396744"/>
            <a:ext cx="1005840" cy="914400"/>
          </a:xfrm>
          <a:prstGeom prst="rtTriangle">
            <a:avLst/>
          </a:prstGeom>
          <a:solidFill>
            <a:srgbClr val="7FA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5397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07208" y="2140712"/>
            <a:ext cx="1783080" cy="178308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5400000">
            <a:off x="3195828" y="2396744"/>
            <a:ext cx="1005840" cy="914400"/>
          </a:xfrm>
          <a:prstGeom prst="rtTriangle">
            <a:avLst/>
          </a:prstGeom>
          <a:solidFill>
            <a:srgbClr val="7FA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07208" y="35397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124960"/>
            <a:ext cx="1783080" cy="178308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rot="10800000">
            <a:off x="1211580" y="4380992"/>
            <a:ext cx="1005840" cy="914400"/>
          </a:xfrm>
          <a:prstGeom prst="rtTriangle">
            <a:avLst/>
          </a:prstGeom>
          <a:solidFill>
            <a:srgbClr val="7FA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55239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07208" y="4124960"/>
            <a:ext cx="1783080" cy="178308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rot="16200000">
            <a:off x="3195828" y="4380992"/>
            <a:ext cx="1005840" cy="914400"/>
          </a:xfrm>
          <a:prstGeom prst="rtTriangle">
            <a:avLst/>
          </a:prstGeom>
          <a:solidFill>
            <a:srgbClr val="7FA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807208" y="55239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10328" y="2140712"/>
            <a:ext cx="6428232" cy="3767328"/>
          </a:xfrm>
          <a:prstGeom prst="rect">
            <a:avLst/>
          </a:prstGeom>
          <a:solidFill>
            <a:srgbClr val="1B2630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84648" y="2415032"/>
            <a:ext cx="5879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184648" y="2945384"/>
            <a:ext cx="5879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slices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(90 per axis)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84648" y="4024376"/>
            <a:ext cx="5879592" cy="0"/>
          </a:xfrm>
          <a:prstGeom prst="line">
            <a:avLst/>
          </a:prstGeom>
          <a:noFill/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84648" y="4188968"/>
            <a:ext cx="5879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1,080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184648" y="4719320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x4 augmentation (no mirror)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atlas-stage training configuration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400300" cy="132588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2066544"/>
            <a:ext cx="2034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432304"/>
            <a:ext cx="20345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320×320 RGB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(grayscale → 3-channel)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32404" y="241858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06140" y="1920240"/>
            <a:ext cx="2400300" cy="1325880"/>
          </a:xfrm>
          <a:prstGeom prst="rect">
            <a:avLst/>
          </a:prstGeom>
          <a:solidFill>
            <a:srgbClr val="1B2630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89020" y="2066544"/>
            <a:ext cx="2034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89020" y="2432304"/>
            <a:ext cx="20345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ConvNeXt-Tiny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ImageNet-pretrained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15584" y="241858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1920240"/>
            <a:ext cx="2400300" cy="132588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72200" y="2066544"/>
            <a:ext cx="2034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2432304"/>
            <a:ext cx="20345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Dropout(0.4) → Linear(128)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GELU → Dropout(0.2) → Linear(3)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98764" y="241858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72500" y="1920240"/>
            <a:ext cx="2400300" cy="132588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55380" y="2066544"/>
            <a:ext cx="2034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55380" y="2432304"/>
            <a:ext cx="20345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3-class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 / Sagittal / Axial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3566160"/>
            <a:ext cx="2400300" cy="23317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5840" y="3730752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05840" y="4279392"/>
            <a:ext cx="20345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is ImageNet-pretrained ConvNeXt-Tiny, frozen for the first 4 epochs (head-only), then top 50% unfrozen at epoch 5 — same schedule as the human classifier. Early stopping, patience 8.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06140" y="3566160"/>
            <a:ext cx="2400300" cy="23317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89020" y="3730752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589020" y="4279392"/>
            <a:ext cx="20345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· lr 5e-4, weight decay 1e-4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(patience 3, factor 0.5)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clipping, max norm 1.0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3566160"/>
            <a:ext cx="2400300" cy="23317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72200" y="3730752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class weighting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72200" y="4279392"/>
            <a:ext cx="20345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CrossEntropyLoss, inverse-frequency class weights — then coronal's weight is manually tripled (3.0×) on top, since coronal was the weakest class in early runs.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72500" y="3566160"/>
            <a:ext cx="2400300" cy="23317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755380" y="3730752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755380" y="4279392"/>
            <a:ext cx="20345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1,080 atlas images only (270 slices × 4 rotations). No real photos in this stage — real images appear only in the fine-tuning stage that follows.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Leak-free 80/20 split, fine-tuned before any augmentation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 real mouse brain photographs across the three classes. The split happens on original files first — augmented copies are generated separately for each side afterward, so no base image (or its rotation) ever appears in both fine-tuning and test.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3246120" cy="178308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25694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299008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 images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3410712"/>
            <a:ext cx="2788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 photographs gathered from coronal (74), sagittal (65), and axial (66) folders — .tif/.tiff/.png/.jpg/.bmp formats supported.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87368" y="3113532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3400" y="2423160"/>
            <a:ext cx="3246120" cy="178308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5694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299008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410712"/>
            <a:ext cx="2788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images for fine-tuning, 41 held out for testing — split on original files, preserving per-class proportions, before any augmentation is applied.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07808" y="3113532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63840" y="2423160"/>
            <a:ext cx="3246120" cy="178308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92440" y="25694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092440" y="299008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each side separately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92440" y="3410712"/>
            <a:ext cx="2788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splits get the same 0°/90°/180°/270° rotations as the atlas stage, generated independently — fine-tune set grows to 656, test set to 164.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4480560"/>
            <a:ext cx="10515600" cy="1417320"/>
          </a:xfrm>
          <a:prstGeom prst="rect">
            <a:avLst/>
          </a:prstGeom>
          <a:solidFill>
            <a:srgbClr val="1B2630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7280" y="4480560"/>
            <a:ext cx="228600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74720" y="4480560"/>
            <a:ext cx="397764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(orig → aug)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543800" y="4480560"/>
            <a:ext cx="397764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(orig → aug)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97280" y="4834890"/>
            <a:ext cx="228600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74720" y="4834890"/>
            <a:ext cx="397764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→ 236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543800" y="4834890"/>
            <a:ext cx="397764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→ 60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97280" y="5189220"/>
            <a:ext cx="228600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Sagittal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74720" y="5189220"/>
            <a:ext cx="397764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→ 208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43800" y="5189220"/>
            <a:ext cx="397764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→ 52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97280" y="5543550"/>
            <a:ext cx="228600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474720" y="5543550"/>
            <a:ext cx="397764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→ 212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543800" y="5543550"/>
            <a:ext cx="397764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→ 52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Coronal gets extra augmentation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gets the same 4 rigid rotations, with a small random affine jitter layered on top so letterbox padding can't become a per-class fingerprint. Coronal — the persistently weakest class — additionally gets 6 extra color-jittered copies per image.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5074920" cy="260604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6243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every class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rigid rotations  </a:t>
            </a: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 / 90° / 180° / 270° — same deterministic scheme as the atlas stage.
</a:t>
            </a:r>
            <a:r>
              <a:rPr lang="en-US" sz="11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affine jitter  </a:t>
            </a: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±6% translate, 0.90–1.10× scale, ±4° shear — layered on every rotation copy, every class, so a class whose source images share one aspect ratio can't be recognized by its padding pattern alone.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423160"/>
            <a:ext cx="5074920" cy="2606040"/>
          </a:xfrm>
          <a:prstGeom prst="rect">
            <a:avLst/>
          </a:prstGeom>
          <a:solidFill>
            <a:srgbClr val="1B2630"/>
          </a:solidFill>
          <a:ln w="12700">
            <a:solidFill>
              <a:srgbClr val="2C2E31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26243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 only — 6 extra copies/image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310896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rotation choice  </a:t>
            </a: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4 rigid angles, picked at random, so jittered copies still cover all orientations.
</a:t>
            </a:r>
            <a:r>
              <a:rPr lang="en-US" sz="11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affine jitter, plus  </a:t>
            </a: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ColorJitter(brightness=0.25, contrast=0.25) — brightness/contrast only, no saturation or hue, since every image is forced to grayscale→RGB anyway.
</a:t>
            </a:r>
            <a:r>
              <a:rPr lang="en-US" sz="11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</a:t>
            </a: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coronal original yields 4 + 6 = 10 training items instead of 4.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5285232"/>
            <a:ext cx="10515600" cy="77724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537667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class weights:  </a:t>
            </a: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inverse-frequency weighting (coronal 1.85×, sagittal 1.05×, axial 1.03×), then coronal's weight is doubled again (×2.0) on top — the same “manually boost coronal” pattern used in the atlas stage.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Letterbox resize and a structural (shape-only) representation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extra preprocessing steps run only at inference / fine-tuning time, on top of the shared contrast normalization — both aimed at stopping the model from learning shortcuts that have nothing to do with anatomy.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5074920" cy="246888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6243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 resize, not stretch-to-square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4526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Resizes preserving aspect ratio, then pads to a 320×320 square canvas. A plain stretch-to-square would bake in a per-class squish fingerprint whenever a class's source images share one aspect ratio — axial images here are all exactly 456×528, so a CNN could learn to detect that fixed squash factor instead of real anatomy.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423160"/>
            <a:ext cx="5074920" cy="2468880"/>
          </a:xfrm>
          <a:prstGeom prst="rect">
            <a:avLst/>
          </a:prstGeom>
          <a:solidFill>
            <a:srgbClr val="1B2630"/>
          </a:solidFill>
          <a:ln w="12700">
            <a:solidFill>
              <a:srgbClr val="2C2E31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26243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representation at inference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3200400"/>
            <a:ext cx="4526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Otsu-threshold silhouette combined with Canny edges, replacing photographic texture with a shape-only outline before the model sees the image. Goal: make rendered atlas slices and photographed real slices look structurally similar, so the model leans on outline/shape rather than photographic texture that differs between the two sources.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5148072"/>
            <a:ext cx="10515600" cy="64008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522122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handled:  </a:t>
            </a: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PNGs are composited onto a black background before conversion, instead of a plain RGBA→RGB drop, which can leave undefined color values in fully-transparent regions.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model — held-out test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real mouse images · held-out from fine-tuning · single-view inference (no rotation voting)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956816" cy="105156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9264" y="21762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90.24%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9264" y="267919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62656" y="2057400"/>
            <a:ext cx="1956816" cy="105156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0" y="21762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/ 41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08960" y="267919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02352" y="2057400"/>
            <a:ext cx="1956816" cy="105156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48656" y="21762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0.9876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48656" y="267919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confidence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42048" y="2057400"/>
            <a:ext cx="1956816" cy="105156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88352" y="21762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88352" y="267919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confidence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381744" y="2057400"/>
            <a:ext cx="1956816" cy="105156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28048" y="21762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0.0610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528048" y="267919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std. dev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precision &amp; recall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34290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(rows = true, cols = predicted)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3813048"/>
            <a:ext cx="5029200" cy="384048"/>
          </a:xfrm>
          <a:prstGeom prst="rect">
            <a:avLst/>
          </a:prstGeom>
          <a:solidFill>
            <a:srgbClr val="7FA8C9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2688" y="3813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70048" y="38130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15968" y="38130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197096"/>
            <a:ext cx="5029200" cy="384048"/>
          </a:xfrm>
          <a:prstGeom prst="rect">
            <a:avLst/>
          </a:prstGeom>
          <a:solidFill>
            <a:srgbClr val="131415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32688" y="41970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70048" y="41970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0.8667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15968" y="41970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0.8667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" y="4581144"/>
            <a:ext cx="5029200" cy="384048"/>
          </a:xfrm>
          <a:prstGeom prst="rect">
            <a:avLst/>
          </a:prstGeom>
          <a:solidFill>
            <a:srgbClr val="131415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32688" y="45811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Sagittal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70048" y="45811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0.8462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15968" y="45811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0.8462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" y="4965192"/>
            <a:ext cx="5029200" cy="384048"/>
          </a:xfrm>
          <a:prstGeom prst="rect">
            <a:avLst/>
          </a:prstGeom>
          <a:solidFill>
            <a:srgbClr val="131415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32688" y="49651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70048" y="4965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15968" y="4965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32688" y="41970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32688" y="45811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Sagittal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32688" y="49651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63640" y="3813048"/>
            <a:ext cx="1234440" cy="384048"/>
          </a:xfrm>
          <a:prstGeom prst="rect">
            <a:avLst/>
          </a:prstGeom>
          <a:solidFill>
            <a:srgbClr val="7FA8C9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63640" y="38130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98080" y="3813048"/>
            <a:ext cx="1234440" cy="384048"/>
          </a:xfrm>
          <a:prstGeom prst="rect">
            <a:avLst/>
          </a:prstGeom>
          <a:solidFill>
            <a:srgbClr val="7FA8C9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498080" y="38130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732520" y="3813048"/>
            <a:ext cx="1234440" cy="384048"/>
          </a:xfrm>
          <a:prstGeom prst="rect">
            <a:avLst/>
          </a:prstGeom>
          <a:solidFill>
            <a:srgbClr val="7FA8C9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732520" y="38130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966960" y="3813048"/>
            <a:ext cx="1234440" cy="384048"/>
          </a:xfrm>
          <a:prstGeom prst="rect">
            <a:avLst/>
          </a:prstGeom>
          <a:solidFill>
            <a:srgbClr val="7FA8C9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966960" y="38130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63640" y="4197096"/>
            <a:ext cx="1234440" cy="384048"/>
          </a:xfrm>
          <a:prstGeom prst="rect">
            <a:avLst/>
          </a:prstGeom>
          <a:solidFill>
            <a:srgbClr val="7FA8C9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63640" y="41970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498080" y="4197096"/>
            <a:ext cx="1234440" cy="384048"/>
          </a:xfrm>
          <a:prstGeom prst="rect">
            <a:avLst/>
          </a:prstGeom>
          <a:solidFill>
            <a:srgbClr val="1B2630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498080" y="41970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732520" y="4197096"/>
            <a:ext cx="1234440" cy="384048"/>
          </a:xfrm>
          <a:prstGeom prst="rect">
            <a:avLst/>
          </a:prstGeom>
          <a:solidFill>
            <a:srgbClr val="131415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732520" y="41970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966960" y="4197096"/>
            <a:ext cx="1234440" cy="384048"/>
          </a:xfrm>
          <a:prstGeom prst="rect">
            <a:avLst/>
          </a:prstGeom>
          <a:solidFill>
            <a:srgbClr val="131415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966960" y="41970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263640" y="4581144"/>
            <a:ext cx="1234440" cy="384048"/>
          </a:xfrm>
          <a:prstGeom prst="rect">
            <a:avLst/>
          </a:prstGeom>
          <a:solidFill>
            <a:srgbClr val="7FA8C9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263640" y="45811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498080" y="4581144"/>
            <a:ext cx="1234440" cy="384048"/>
          </a:xfrm>
          <a:prstGeom prst="rect">
            <a:avLst/>
          </a:prstGeom>
          <a:solidFill>
            <a:srgbClr val="131415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498080" y="45811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32520" y="4581144"/>
            <a:ext cx="1234440" cy="384048"/>
          </a:xfrm>
          <a:prstGeom prst="rect">
            <a:avLst/>
          </a:prstGeom>
          <a:solidFill>
            <a:srgbClr val="1B2630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732520" y="45811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966960" y="4581144"/>
            <a:ext cx="1234440" cy="384048"/>
          </a:xfrm>
          <a:prstGeom prst="rect">
            <a:avLst/>
          </a:prstGeom>
          <a:solidFill>
            <a:srgbClr val="131415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966960" y="45811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263640" y="4965192"/>
            <a:ext cx="1234440" cy="384048"/>
          </a:xfrm>
          <a:prstGeom prst="rect">
            <a:avLst/>
          </a:prstGeom>
          <a:solidFill>
            <a:srgbClr val="7FA8C9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263640" y="49651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498080" y="4965192"/>
            <a:ext cx="1234440" cy="384048"/>
          </a:xfrm>
          <a:prstGeom prst="rect">
            <a:avLst/>
          </a:prstGeom>
          <a:solidFill>
            <a:srgbClr val="131415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498080" y="49651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732520" y="4965192"/>
            <a:ext cx="1234440" cy="384048"/>
          </a:xfrm>
          <a:prstGeom prst="rect">
            <a:avLst/>
          </a:prstGeom>
          <a:solidFill>
            <a:srgbClr val="131415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8732520" y="49651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9966960" y="4965192"/>
            <a:ext cx="1234440" cy="384048"/>
          </a:xfrm>
          <a:prstGeom prst="rect">
            <a:avLst/>
          </a:prstGeom>
          <a:solidFill>
            <a:srgbClr val="1B2630"/>
          </a:solidFill>
          <a:ln w="635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9966960" y="49651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predictions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grid — true / predicted class and confidence for representative test slices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115332-28C8-0048-00F6-2087590FC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478" y="1791765"/>
            <a:ext cx="8168162" cy="45633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1439</Words>
  <Application>Microsoft Office PowerPoint</Application>
  <PresentationFormat>Widescreen</PresentationFormat>
  <Paragraphs>184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Mouse Brain Axis Classifier</dc:title>
  <dc:subject>PptxGenJS Presentation</dc:subject>
  <dc:creator>Mouse Axis Classifier</dc:creator>
  <cp:lastModifiedBy>Fatima  Nauman</cp:lastModifiedBy>
  <cp:revision>2</cp:revision>
  <dcterms:created xsi:type="dcterms:W3CDTF">2026-06-21T17:25:46Z</dcterms:created>
  <dcterms:modified xsi:type="dcterms:W3CDTF">2026-06-21T17:32:40Z</dcterms:modified>
</cp:coreProperties>
</file>