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67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1">
            <a:extLst>
              <a:ext uri="{FF2B5EF4-FFF2-40B4-BE49-F238E27FC236}">
                <a16:creationId xmlns:a16="http://schemas.microsoft.com/office/drawing/2014/main" id="{6BE04B6B-34D3-486E-5D8A-17C5FA4B2ADF}"/>
              </a:ext>
            </a:extLst>
          </p:cNvPr>
          <p:cNvSpPr/>
          <p:nvPr/>
        </p:nvSpPr>
        <p:spPr>
          <a:xfrm>
            <a:off x="3012440" y="2926080"/>
            <a:ext cx="616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Preprocessing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Brain Classifier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First-stage gate: is this slice from a human or a mouse brain?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binary classifier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7632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RGB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230200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slices converted to 3-channel.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7570" y="1691640"/>
            <a:ext cx="257632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473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5473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54730" y="2441448"/>
            <a:ext cx="230200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5060" y="1691640"/>
            <a:ext cx="257632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222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3222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2220" y="2441448"/>
            <a:ext cx="230200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 → Linear(64) → ReLU → Linear(1).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2550" y="1691640"/>
            <a:ext cx="257632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0971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0971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Sigmoid, binary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09710" y="2441448"/>
            <a:ext cx="230200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Human, 1 = Mouse. Threshold 0.5.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1090879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strategy: head-only for 5 epochs, then unfreeze the top 6 backbone blocks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 Adam, lr 1e-3 → 1e-5, ReduceLROnPlateau (patience 3)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BCEWithLogitsLoss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horizontal flip, 180° rotation, ColorJitter, Gaussian blur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TEST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composition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0879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spans all three axes roughly evenly (~33% coronal / sagittal / axial, per per-axis metrics)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human brain dataset used for training and testing containing slices per axis of different 3d brain scans from the IXI dataset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mouse brain dataset containing scans from Allen experiments and broad data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6657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19656"/>
            <a:ext cx="14828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350008"/>
            <a:ext cx="14828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8692" y="1691640"/>
            <a:ext cx="16657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80132" y="1819656"/>
            <a:ext cx="14828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80132" y="2350008"/>
            <a:ext cx="14828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37304" y="1691640"/>
            <a:ext cx="16657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28744" y="1819656"/>
            <a:ext cx="14828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28744" y="2350008"/>
            <a:ext cx="14828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5916" y="1691640"/>
            <a:ext cx="16657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77356" y="1819656"/>
            <a:ext cx="14828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77356" y="2350008"/>
            <a:ext cx="14828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34528" y="1691640"/>
            <a:ext cx="16657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25968" y="1819656"/>
            <a:ext cx="14828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25968" y="2350008"/>
            <a:ext cx="14828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83140" y="1691640"/>
            <a:ext cx="16657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74580" y="1819656"/>
            <a:ext cx="14828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974580" y="2350008"/>
            <a:ext cx="14828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Per-axis accuracy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5120640" cy="128016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Axis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Share of test set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Coronal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0.9924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~33%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Sagittal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0.9897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~33%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Axial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0.9906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~33%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400800" y="3429000"/>
            <a:ext cx="248259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92240" y="3557016"/>
            <a:ext cx="22997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0.0391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492240" y="4087368"/>
            <a:ext cx="22997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066276" y="3429000"/>
            <a:ext cx="248259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157716" y="3557016"/>
            <a:ext cx="22997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0.0083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9157716" y="4087368"/>
            <a:ext cx="22997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6D779-9E82-41B4-18EB-DE1674CC4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55" y="1655064"/>
            <a:ext cx="11205689" cy="43200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Brain Axis Classifier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Atlas-trained orientation prediction: coronal / sagittal / axial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ConvNeXt-Tiny, 3-class orientation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7632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320×320 RGB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230200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→ 3-channel.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7570" y="1691640"/>
            <a:ext cx="257632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473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5473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54730" y="2441448"/>
            <a:ext cx="230200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5060" y="1691640"/>
            <a:ext cx="257632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222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3222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2220" y="2441448"/>
            <a:ext cx="230200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Dropout(0.4)→Linear(128)→GELU→Dropout(0.2)→Linear(3).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2550" y="1691640"/>
            <a:ext cx="257632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0971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0971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Softmax, 3-class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09710" y="2441448"/>
            <a:ext cx="230200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 / Sagittal / Axial.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1090879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strategy: head-only for 4 epochs, then unfreeze top 50% of backbone at epoch 5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 AdamW, lr 5e-4 → 1e-5 on unfreeze; ReduceLROnPlateau (patience 3)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CrossEntropyLoss (3-class); gradient clipping, max norm 1.0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TEST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atlas only, tested on real scans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0879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single MNI152 T1w atlas volume (193×229×193), oriented to RAS — no real patient images used in training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slices sampled per axis (270 total), skipping the outer 5% on each side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deterministic augmentation (4 rotations × mirror/not) → 2,160 training images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data: slices per axis of different 3d brain scans from the IXI dataset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evaluation — 285 real patient images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03545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19656"/>
            <a:ext cx="18525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96.49%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350008"/>
            <a:ext cx="1852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58414" y="1691640"/>
            <a:ext cx="203545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49854" y="1819656"/>
            <a:ext cx="18525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/ 285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49854" y="2350008"/>
            <a:ext cx="1852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6749" y="1691640"/>
            <a:ext cx="203545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68189" y="1819656"/>
            <a:ext cx="18525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68189" y="2350008"/>
            <a:ext cx="1852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95083" y="1691640"/>
            <a:ext cx="203545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86523" y="1819656"/>
            <a:ext cx="18525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86523" y="2350008"/>
            <a:ext cx="1852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confidence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13418" y="1691640"/>
            <a:ext cx="203545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4858" y="1819656"/>
            <a:ext cx="18525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0.0365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4858" y="2350008"/>
            <a:ext cx="1852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std. dev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 &amp; recall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5120640" cy="128016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Coronal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Sagittal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0.9899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Axial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0.9062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49224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(rows = true, cols = predicted)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429000"/>
          <a:ext cx="5029200" cy="1280160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Axi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Axi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67FC89-C129-A5ED-7422-10530BEC01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9" b="3784"/>
          <a:stretch>
            <a:fillRect/>
          </a:stretch>
        </p:blipFill>
        <p:spPr>
          <a:xfrm>
            <a:off x="1813882" y="1481329"/>
            <a:ext cx="8564236" cy="52102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Brain Axis Classifier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Atlas-pretrained, real-image fine-tuned orientation prediction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ConvNeXt-Tiny, three-stage: pretrain, then 2-fold fine-tuning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7632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320×320 RGB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230200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Contrast-stretched (1–99th pct) → letterboxed to 320×320 → Otsu+Canny structural mask → grayscale, 3-channel.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7570" y="1691640"/>
            <a:ext cx="257632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473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5473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54730" y="2441448"/>
            <a:ext cx="230200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5060" y="1691640"/>
            <a:ext cx="257632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222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3222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2220" y="2441448"/>
            <a:ext cx="230200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Dropout(0.4)→Linear(128)→GELU→Dropout(0.2)→Linear(3).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2550" y="1691640"/>
            <a:ext cx="257632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09710" y="1801368"/>
            <a:ext cx="2302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09710" y="2075688"/>
            <a:ext cx="23020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Softmax, 3-class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09710" y="2441448"/>
            <a:ext cx="230200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 / Sagittal / Axial.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429000"/>
            <a:ext cx="1090879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Atlas pretraining: frozen backbone for 4 epochs, then top 50% unfrozen at epoch 5 (same schedule both stages)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Real-image fine-tuning: same model fine-tuned on real photos after the domain gap was found to hurt atlas-only accuracy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 AdamW, lr 5e-4, weight decay 1e-4; ReduceLROnPlateau (patience 3, factor 0.5); grad clip max norm 1.0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CrossEntropyLoss, inverse-frequency class weights — coronal weight further boosted (×3 in stage 1, an additional ×2 in stage 2) as the persistently weakest class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TEST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data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pretraining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3227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528×320×456 mouse atlas volume (average_template_25.nrrd), RAS-oriented. 90 slices/axis (270 total), skip outer 5%. ×4 rotation aug → 1,080 images. No real photos.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1801368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2A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2075688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experiment data fine-tuning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441448"/>
            <a:ext cx="3227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real photos: coronal 74, sagittal 65, axial 66. Stratified 80/20 split on originals: 164 fine-tune / 41 test. Augmented separately per split.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83880" y="1801368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2B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83880" y="2075688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data fine-tuning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2441448"/>
            <a:ext cx="3227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10908792" cy="1170432"/>
        </p:xfrm>
        <a:graphic>
          <a:graphicData uri="http://schemas.openxmlformats.org/drawingml/2006/table">
            <a:tbl>
              <a:tblPr/>
              <a:tblGrid>
                <a:gridCol w="363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Fine-tune (orig → aug)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(orig → aug)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Coronal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59 → 236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 → 60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Sagittal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52 → 208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 → 52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Axial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53 → 212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 → 52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10">
            <a:extLst>
              <a:ext uri="{FF2B5EF4-FFF2-40B4-BE49-F238E27FC236}">
                <a16:creationId xmlns:a16="http://schemas.microsoft.com/office/drawing/2014/main" id="{F44ED419-E00A-96C7-0DAD-BF221C41C330}"/>
              </a:ext>
            </a:extLst>
          </p:cNvPr>
          <p:cNvSpPr/>
          <p:nvPr/>
        </p:nvSpPr>
        <p:spPr>
          <a:xfrm>
            <a:off x="8183880" y="2441448"/>
            <a:ext cx="3227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real photos: coronal 64, sagittal 44. Stratified 80/20 split on originals: 164 fine-tune / 41 test. Augmented separately per split.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 — held-out test evaluation (41 real images)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03545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19656"/>
            <a:ext cx="18525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90.24%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350008"/>
            <a:ext cx="1852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58414" y="1691640"/>
            <a:ext cx="203545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49854" y="1819656"/>
            <a:ext cx="18525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49854" y="2350008"/>
            <a:ext cx="1852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6749" y="1691640"/>
            <a:ext cx="203545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68189" y="1819656"/>
            <a:ext cx="18525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68189" y="2350008"/>
            <a:ext cx="1852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95083" y="1691640"/>
            <a:ext cx="203545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86523" y="1819656"/>
            <a:ext cx="18525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86523" y="2350008"/>
            <a:ext cx="1852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confidence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13418" y="1691640"/>
            <a:ext cx="203545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4858" y="1819656"/>
            <a:ext cx="18525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4858" y="2350008"/>
            <a:ext cx="1852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std. dev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 &amp; recall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5120640" cy="128016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Coronal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0.8667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0.8667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Sagittal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0.8462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0.8462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Axial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49224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(rows = true, cols = predicted)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429000"/>
          <a:ext cx="5029200" cy="1280160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Axi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Axi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115332-28C8-0048-00F6-2087590FC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071" y="1581453"/>
            <a:ext cx="8737857" cy="48815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Brain Slice Reorientation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geometric pipeline — atlas matching, rotation, and flip correction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020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normalise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PNG/TIFF/CZI → float32 [0,1]. Polarity detection via central vs. corner medians.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62072" y="1737360"/>
            <a:ext cx="2020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99232" y="1847088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9232" y="212140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mask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9232" y="2487168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threshold (fallback Otsu), morphological closing, fill holes. Keep up to 3 largest components.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84064" y="1737360"/>
            <a:ext cx="2020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21224" y="1847088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21224" y="212140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21224" y="2487168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MNI152NLin2009cAsym T1w atlas. 15–25 candidates/axis. Fast NCC pre-screen → top-3 → full per-rotation NCC.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06056" y="1737360"/>
            <a:ext cx="2020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43216" y="1847088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43216" y="212140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rotation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43216" y="2487168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90° rotation by mask symmetry (flip-IoU) + top-wider-than-bottom width criterion; best-scoring rotation kept.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28048" y="1737360"/>
            <a:ext cx="2020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65208" y="1847088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65208" y="212140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resolve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65208" y="2487168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Coronal/axial: geometric landmark check. Sagittal: NCC + cerebellum bottom-right check.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axis is geometrically checking for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297680"/>
            <a:ext cx="109087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— top-heavy + bilateral symmetry: cerebrum half must be wider than cerebellum half; no flip step needed (L-R symmetric by convention)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 — cerebellum-below-cerebrum: same top-heavy/symmetry rotation check, plus a UD flip if the second-largest blob (cerebellum) centroid sits in the upper half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 — cerebellum bottom-right: initial orientation via NCC across all 8 transforms, then LR/UD tiebreakers that require the cerebellum to score highest in the bottom-right quadrant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&amp; EVALUATION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reference and evaluation 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087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atlas: MNI152NLin2009cAsym T1w volume — slices matched against this atlas rather than a trained model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set: 36 real human brain slice images — 12 per axis (coronal / sagittal / axial)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obtained by making slices per axis of different 3d brain scans from the IXI dataset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2286000"/>
        </p:xfrm>
        <a:graphic>
          <a:graphicData uri="http://schemas.openxmlformats.org/drawingml/2006/table">
            <a:tbl>
              <a:tblPr/>
              <a:tblGrid>
                <a:gridCol w="1818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Axis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Dice ↑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HD_norm ↓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NCC ↑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Latency (ms)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Coronal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0.843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0.103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0.572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~185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Sagittal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0.775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0.171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0.435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~175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Axial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0.884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0.063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0.775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~190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Overall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0.834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0.594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~183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Coronal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5A0CAE-8B20-F410-26A0-55242F3C6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831" y="1481329"/>
            <a:ext cx="6466338" cy="53944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Sagittal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F462D4-3FCA-E4B5-3545-84AE0976A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296" y="1481329"/>
            <a:ext cx="6414359" cy="54406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Axial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33286C-2125-3BA6-2A2D-CFAF27197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977" y="1481329"/>
            <a:ext cx="6378998" cy="534958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5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Brain Slice Reorientation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geometric pipeline — atlas matching, rotation, and flip correction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020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normalise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PNG/TIFF/CZI → float32 [0,1]. Polarity detection via central vs. corner medians.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62072" y="1737360"/>
            <a:ext cx="2020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99232" y="1847088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9232" y="212140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mask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9232" y="2487168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threshold (fallback Otsu), morphological closing, fill holes. Keep up to 3 largest components.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84064" y="1737360"/>
            <a:ext cx="2020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21224" y="1847088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21224" y="212140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21224" y="2487168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candidate atlas slices/axis. Fast NCC pre-screen → top-3 → full per-rotation NCC. Returns best-matching slice.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06056" y="1737360"/>
            <a:ext cx="2020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43216" y="1847088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43216" y="212140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rotation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43216" y="2487168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0.7×cos(PCA angle residual) + 0.3×NCC per 90° rotation; winner recorded with NCC margin.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28048" y="1737360"/>
            <a:ext cx="2020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65208" y="1847088"/>
            <a:ext cx="1746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65208" y="212140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resolve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65208" y="2487168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Coronal/axial: test none/LR/UD/both flips via NCC. Sagittal: handled by a separate shape-adaptive module (below) — no atlas rotation step.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 reorientation: shape-adaptive landmark pipeline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297680"/>
            <a:ext cx="109087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sagittal slices are near-bilaterally symmetric, so atlas NCC scoring can’t reliably drive rotation or flip — the module now skips atlas matching entirely and reasons from tissue shape instead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classify shape: the mask’s short/long-axis aspect ratio sorts each slice into “circle” (aspect &gt; 0.62) or “elongated,” each routed to its own landmark logic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put the landmark on the right: elongated slices split the tissue at its narrowest “neck” (watershed) to isolate the cerebellum blob, falling back to an end-to-end texture contrast if the split fails; circle slices instead locate an internal circular structure via a radial-symmetry transform (edge-orientation voting, ring count, grain penalty) — the winning landmark is flipped left-right onto the right side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wider half on top: PCA splits the mask into top/bottom halves and compares cross-sectional width; the narrower half is flipped to the bottom (circle slices use a mean-width tiebreaker when the peak-width margin is small)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&amp; EVALUATION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reference and evaluation 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087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atlas: average_template_25.nrrd mouse atlas volume — slices matched against this atlas rather than a trained model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set: 72 real mouse brain slice images — 24 per axis (coronal / sagittal / axial)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 collection of scans from Allen experiments and broad data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2286000"/>
        </p:xfrm>
        <a:graphic>
          <a:graphicData uri="http://schemas.openxmlformats.org/drawingml/2006/table">
            <a:tbl>
              <a:tblPr/>
              <a:tblGrid>
                <a:gridCol w="1818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8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Axis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Dice ↑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HD_norm ↓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NCC ↑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Latency (ms)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Coronal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0.843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0.103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0.572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~183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Sagittal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0.775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0.171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0.435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~173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Axial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0.884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0.063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0.775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~193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Overall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0.834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0.594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~183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Coronal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C7B577-3DD9-BDA7-8EC4-B645739848C6}"/>
              </a:ext>
            </a:extLst>
          </p:cNvPr>
          <p:cNvGrpSpPr/>
          <p:nvPr/>
        </p:nvGrpSpPr>
        <p:grpSpPr>
          <a:xfrm>
            <a:off x="875214" y="1901963"/>
            <a:ext cx="10441572" cy="4544557"/>
            <a:chOff x="640080" y="1600200"/>
            <a:chExt cx="8403700" cy="36576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B64102A-F977-EC8D-035F-384CBA8AC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1600200"/>
              <a:ext cx="4123027" cy="36576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86D6A4F-7BF4-8279-1904-6969C49DA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19"/>
            <a:stretch>
              <a:fillRect/>
            </a:stretch>
          </p:blipFill>
          <p:spPr>
            <a:xfrm>
              <a:off x="4763107" y="1600200"/>
              <a:ext cx="4280673" cy="3657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Sagittal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257EEE-AC54-F38A-A6E7-DF9178BF2366}"/>
              </a:ext>
            </a:extLst>
          </p:cNvPr>
          <p:cNvGrpSpPr/>
          <p:nvPr/>
        </p:nvGrpSpPr>
        <p:grpSpPr>
          <a:xfrm>
            <a:off x="593089" y="1481330"/>
            <a:ext cx="11002773" cy="4965192"/>
            <a:chOff x="741680" y="1481328"/>
            <a:chExt cx="11002773" cy="496519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49B012-5C92-988D-0B5C-467DB782E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680" y="1481330"/>
              <a:ext cx="5573779" cy="496519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B092DD0-E73C-0874-153B-B79D34E86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885"/>
            <a:stretch>
              <a:fillRect/>
            </a:stretch>
          </p:blipFill>
          <p:spPr>
            <a:xfrm>
              <a:off x="6315459" y="1481328"/>
              <a:ext cx="5428994" cy="48015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Axial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9233A1-F8A0-3E81-132D-8F46BBDE75C1}"/>
              </a:ext>
            </a:extLst>
          </p:cNvPr>
          <p:cNvGrpSpPr/>
          <p:nvPr/>
        </p:nvGrpSpPr>
        <p:grpSpPr>
          <a:xfrm>
            <a:off x="624903" y="1685255"/>
            <a:ext cx="10942194" cy="4761257"/>
            <a:chOff x="2018918" y="1654947"/>
            <a:chExt cx="8154163" cy="354810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EAD6906-AFC7-B025-2B9F-12A09AEB1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8918" y="1654948"/>
              <a:ext cx="4127200" cy="354810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0690586-9866-89A6-7E31-CBA0DD128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6118" y="1654947"/>
              <a:ext cx="4026963" cy="35481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1781</Words>
  <Application>Microsoft Office PowerPoint</Application>
  <PresentationFormat>Widescreen</PresentationFormat>
  <Paragraphs>382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Slice Preprocessing Pipeline</dc:title>
  <dc:subject>PptxGenJS Presentation</dc:subject>
  <dc:creator>PptxGenJS</dc:creator>
  <cp:lastModifiedBy>Fatima  Nauman</cp:lastModifiedBy>
  <cp:revision>8</cp:revision>
  <dcterms:created xsi:type="dcterms:W3CDTF">2026-07-01T16:17:55Z</dcterms:created>
  <dcterms:modified xsi:type="dcterms:W3CDTF">2026-07-06T18:58:21Z</dcterms:modified>
</cp:coreProperties>
</file>